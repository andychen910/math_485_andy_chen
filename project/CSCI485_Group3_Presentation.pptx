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Acquisition Rate by Industry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Acquisition Rate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Gaming</c:v>
                  </c:pt>
                  <c:pt idx="1">
                    <c:v>Healthcare</c:v>
                  </c:pt>
                  <c:pt idx="2">
                    <c:v>Tech</c:v>
                  </c:pt>
                  <c:pt idx="3">
                    <c:v>AI</c:v>
                  </c:pt>
                  <c:pt idx="4">
                    <c:v>EdTech</c:v>
                  </c:pt>
                  <c:pt idx="5">
                    <c:v>FinTech</c:v>
                  </c:pt>
                  <c:pt idx="6">
                    <c:v>E-commerce</c:v>
                  </c:pt>
                  <c:pt idx="7">
                    <c:v>FoodTech</c:v>
                  </c:pt>
                  <c:pt idx="8">
                    <c:v>Energy</c:v>
                  </c:pt>
                  <c:pt idx="9">
                    <c:v>Logistics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53.1</c:v>
                </c:pt>
                <c:pt idx="1">
                  <c:v>52.7</c:v>
                </c:pt>
                <c:pt idx="2">
                  <c:v>52.7</c:v>
                </c:pt>
                <c:pt idx="3">
                  <c:v>52.3</c:v>
                </c:pt>
                <c:pt idx="4">
                  <c:v>51.5</c:v>
                </c:pt>
                <c:pt idx="5">
                  <c:v>50.8</c:v>
                </c:pt>
                <c:pt idx="6">
                  <c:v>49.9</c:v>
                </c:pt>
                <c:pt idx="7">
                  <c:v>49.9</c:v>
                </c:pt>
                <c:pt idx="8">
                  <c:v>47.1</c:v>
                </c:pt>
                <c:pt idx="9">
                  <c:v>46.6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Rate by Funding Stage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Acquisition Rate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Seed</c:v>
                  </c:pt>
                  <c:pt idx="1">
                    <c:v>Series A</c:v>
                  </c:pt>
                  <c:pt idx="2">
                    <c:v>Series B</c:v>
                  </c:pt>
                  <c:pt idx="3">
                    <c:v>Series C</c:v>
                  </c:pt>
                  <c:pt idx="4">
                    <c:v>IPO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51.2</c:v>
                </c:pt>
                <c:pt idx="1">
                  <c:v>53</c:v>
                </c:pt>
                <c:pt idx="2">
                  <c:v>50.7</c:v>
                </c:pt>
                <c:pt idx="3">
                  <c:v>47.9</c:v>
                </c:pt>
                <c:pt idx="4">
                  <c:v>50.3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Metric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DT (depth=5)</c:v>
                  </c:pt>
                  <c:pt idx="1">
                    <c:v>DT (tuned)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48.7</c:v>
                </c:pt>
                <c:pt idx="1">
                  <c:v>48.9</c:v>
                </c:pt>
                <c:pt idx="2">
                  <c:v>50.9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DT (depth=5)</c:v>
                  </c:pt>
                  <c:pt idx="1">
                    <c:v>DT (tuned)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49.6</c:v>
                </c:pt>
                <c:pt idx="1">
                  <c:v>49.5</c:v>
                </c:pt>
                <c:pt idx="2">
                  <c:v>51.4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DT (depth=5)</c:v>
                  </c:pt>
                  <c:pt idx="1">
                    <c:v>DT (tuned)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68.4</c:v>
                </c:pt>
                <c:pt idx="1">
                  <c:v>42.4</c:v>
                </c:pt>
                <c:pt idx="2">
                  <c:v>56.2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DT (depth=5)</c:v>
                  </c:pt>
                  <c:pt idx="1">
                    <c:v>DT (tuned)</c:v>
                  </c:pt>
                  <c:pt idx="2">
                    <c:v>Random Forest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57.5</c:v>
                </c:pt>
                <c:pt idx="1">
                  <c:v>45.7</c:v>
                </c:pt>
                <c:pt idx="2">
                  <c:v>53.7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Random Forest Feature Importance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IPO</c:v>
                  </c:pt>
                  <c:pt idx="1">
                    <c:v>FundingStage</c:v>
                  </c:pt>
                  <c:pt idx="2">
                    <c:v>Success Score</c:v>
                  </c:pt>
                  <c:pt idx="3">
                    <c:v>Country</c:v>
                  </c:pt>
                  <c:pt idx="4">
                    <c:v>Industry</c:v>
                  </c:pt>
                  <c:pt idx="5">
                    <c:v>Customer Base</c:v>
                  </c:pt>
                  <c:pt idx="6">
                    <c:v>Total Funding</c:v>
                  </c:pt>
                  <c:pt idx="7">
                    <c:v>Social Media</c:v>
                  </c:pt>
                  <c:pt idx="8">
                    <c:v>Valuation ($B)</c:v>
                  </c:pt>
                  <c:pt idx="9">
                    <c:v>Annual Revenue</c:v>
                  </c:pt>
                  <c:pt idx="10">
                    <c:v>Num Employees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1.43</c:v>
                </c:pt>
                <c:pt idx="1">
                  <c:v>3.94</c:v>
                </c:pt>
                <c:pt idx="2">
                  <c:v>5.4</c:v>
                </c:pt>
                <c:pt idx="3">
                  <c:v>5.64</c:v>
                </c:pt>
                <c:pt idx="4">
                  <c:v>5.75</c:v>
                </c:pt>
                <c:pt idx="5">
                  <c:v>10.98</c:v>
                </c:pt>
                <c:pt idx="6">
                  <c:v>11.95</c:v>
                </c:pt>
                <c:pt idx="7">
                  <c:v>13.27</c:v>
                </c:pt>
                <c:pt idx="8">
                  <c:v>13.41</c:v>
                </c:pt>
                <c:pt idx="9">
                  <c:v>14.11</c:v>
                </c:pt>
                <c:pt idx="10">
                  <c:v>14.13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657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485 · Advanced Data Science · Final Project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91440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Startup Succeed?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94360" y="210312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Acquisition Outcomes Using the Global Startup Success Dataset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94360" y="2880360"/>
            <a:ext cx="77724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017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  ·  Andy Chen  ·  Devon Rhodes  ·  Muhammad Hasham Hussain  ·  Prabin Subedi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4663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Context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What factors are most associated with a startup getting acquired?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920240"/>
            <a:ext cx="24688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Records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Kaggle dataset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92024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920240"/>
            <a:ext cx="24688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5468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&amp; encoded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1920240"/>
            <a:ext cx="24688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52160" y="1920240"/>
            <a:ext cx="246888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Acquired?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52160" y="26974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Yes / No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Acquisition? — Clear binary outcome, well-suited for classification. Covers 10 industries, 10+ countries, and all funding stages from Seed to IPO.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Balance: Acquired 50.66%  ·  Not Acquired 49.34%  →  No class imbalance issue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Technology &amp;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50292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960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for Industry, Country, Funding Stage. Binary encoding for Acquired &amp; IPO. No missing values found.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68680"/>
            <a:ext cx="502920" cy="137160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49240" y="96012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28016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charts by industry &amp; country, acquisition rate by funding stage, correlation heatmap for all numeric features.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23160"/>
            <a:ext cx="502920" cy="13716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514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28346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max_depth=5.  Tuned: max_depth=8, min_samples_split=20. Provides interpretable tree structure.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42316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423160"/>
            <a:ext cx="50292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834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5146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49240" y="283464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estimators, max_depth=10. Produces feature importance scores to directly answer which variables matter most.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Accuracy  ·  Precision  ·  Recall  ·  F1-Score  +  Confusion Matrix  +  Feature Importance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Key Findings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5669280" y="914400"/>
          <a:ext cx="32004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1"/>
          <p:cNvSpPr/>
          <p:nvPr/>
        </p:nvSpPr>
        <p:spPr>
          <a:xfrm>
            <a:off x="5669280" y="3429000"/>
            <a:ext cx="3200400" cy="141732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715000" y="3474720"/>
            <a:ext cx="31089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Acquisition rates are 47–53% across all groups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strong industry or stage predictor found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Correlation heatmap shows near-zero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signal for Acquired column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Vertical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iterations — baseline → tuned → final model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4300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4300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1143000"/>
            <a:ext cx="54864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16128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48.7%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0372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Baseline Accuracy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0" y="1801368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801368"/>
            <a:ext cx="54864" cy="548640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0" y="181965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48.9%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903720" y="1892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Tuned Accuracy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2459736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459736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35040" y="247802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903720" y="255117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Accuracy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3118104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3118104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0" y="313639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53.7%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903720" y="320954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F1-Score (best)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943600" y="3776472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43600" y="3776472"/>
            <a:ext cx="54864" cy="5486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3794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50.7%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03720" y="38679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Baseline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Horizontal Comparison &amp; Feature Importance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914400"/>
          <a:ext cx="5029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669280" y="914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Horizontal: vs. Baseline Reference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25880"/>
          <a:ext cx="3200400" cy="1645920"/>
        </p:xfrm>
        <a:graphic>
          <a:graphicData uri="http://schemas.openxmlformats.org/drawingml/2006/table">
            <a:tbl>
              <a:tblPr/>
              <a:tblGrid>
                <a:gridCol w="1463040"/>
                <a:gridCol w="86868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Majority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(depth=5)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(tuned)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669280" y="3063240"/>
            <a:ext cx="3200400" cy="1828800"/>
          </a:xfrm>
          <a:prstGeom prst="rect">
            <a:avLst/>
          </a:prstGeom>
          <a:solidFill>
            <a:srgbClr val="EEF4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760720" y="3127248"/>
            <a:ext cx="30175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Predictors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Number of Employees  14.1%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Annual Revenue ($M)  14.1%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Valuation ($B)       13.4%
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scale features dominate.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Binary/categorical features (IPO,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Stage) rank lowest.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Walkthrough: Random Forest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component: feature encoding → model training → feature importance extraction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3035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0700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Encode categorical features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41274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= LabelEncoder()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df["Industry_enc"] = le.fit_transform(df["Industry"])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82422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df["FundingStage_enc"] = le.fit_transform(df["Funding Stage"])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3570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Random Forest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44144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264718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n_estimators=100, max_depth=10,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85292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min_samples_split=10, min_samples_leaf=5,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05866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random_state=42, n_jobs=-1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326440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347014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rf.fit(X_train, y_train)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" y="367588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388162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Extract feature importance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408736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feat_importance = pd.Series(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29310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rf.feature_importances_, index=FEATURES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498848"/>
            <a:ext cx="5029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).sort_values(ascending=False)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0" y="114300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0" y="1143000"/>
            <a:ext cx="54864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53328" y="11887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Encoding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53328" y="144475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converts Industry, Country, Funding Stage from strings to integers for model input.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237744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43600" y="2377440"/>
            <a:ext cx="54864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24231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RF Config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53328" y="26791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trees, max depth 10. min_samples controls overfitting. n_jobs=-1 uses all CPU cores.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0" y="3703320"/>
            <a:ext cx="2926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3703320"/>
            <a:ext cx="54864" cy="8686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53328" y="37490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Importance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53328" y="40050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pd.Series wraps the array with feature names. sort_values gives a ranked importance list.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 vs What Didn't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Worked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Random Forest outperformed Decision Tree on all 4 metrics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653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Feature importance provides direct, interpretable insight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677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Balanced 50/50 dataset avoids class imbalance issues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700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Vertical comparison clearly shows model iteration progress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072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Pipeline is clean, reproducible, and well-documented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E05A4E"/>
          </a:solidFill>
          <a:ln w="12700">
            <a:solidFill>
              <a:srgbClr val="E05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What Didn't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DT depth=5 underfits — recall 68% but precision only 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18653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Overall accuracy ~50% — near random baseline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2677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Correlation heatmap shows near-zero signal for target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6700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Tech Stack not used — too high cardinality to encode simply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3072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Dataset may be synthetic — weak real-world signal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FFF9C4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 low accuracy is itself a finding — it reveals that acquisition outcome is weakly predicted by company metrics alone in this dataset.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914400"/>
            <a:ext cx="3749040" cy="3017520"/>
          </a:xfrm>
          <a:prstGeom prst="rect">
            <a:avLst/>
          </a:prstGeom>
          <a:solidFill>
            <a:srgbClr val="1E3A6E">
              <a:alpha val="8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best model (F1: 53.7%)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8470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Employees, Revenue, Valuation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32257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outcome is hard to predict from these features alone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798064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likely synthetic — limits real-world applicability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327355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comparison shows tuning alone cannot overcome weak signal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60520" cy="3017520"/>
          </a:xfrm>
          <a:prstGeom prst="rect">
            <a:avLst/>
          </a:prstGeom>
          <a:solidFill>
            <a:srgbClr val="1E3A6E">
              <a:alpha val="8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XGBoost / LightGBM for better performance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84708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 Tech Stack feature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32257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via GridSearchCV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7980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for deeper interpretability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327355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a verified real-world startup dataset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069080"/>
            <a:ext cx="8229600" cy="685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69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Q&amp;A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 485 Final Project - Group 3</dc:title>
  <dc:subject>PptxGenJS Presentation</dc:subject>
  <dc:creator>PptxGenJS</dc:creator>
  <cp:lastModifiedBy>PptxGenJS</cp:lastModifiedBy>
  <cp:revision>1</cp:revision>
  <dcterms:created xsi:type="dcterms:W3CDTF">2026-04-21T23:15:02Z</dcterms:created>
  <dcterms:modified xsi:type="dcterms:W3CDTF">2026-04-21T23:15:02Z</dcterms:modified>
</cp:coreProperties>
</file>